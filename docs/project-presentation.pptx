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4" r:id="rId1"/>
  </p:sldMasterIdLst>
  <p:sldIdLst>
    <p:sldId id="256" r:id="rId2"/>
    <p:sldId id="257" r:id="rId3"/>
    <p:sldId id="258" r:id="rId4"/>
    <p:sldId id="259" r:id="rId5"/>
    <p:sldId id="260" r:id="rId6"/>
    <p:sldId id="262" r:id="rId7"/>
    <p:sldId id="261" r:id="rId8"/>
    <p:sldId id="263" r:id="rId9"/>
    <p:sldId id="264"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54D2C0-F1B8-4242-A5B1-551B969B2571}" v="781" dt="2025-03-08T16:38:01.7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94660"/>
  </p:normalViewPr>
  <p:slideViewPr>
    <p:cSldViewPr snapToGrid="0">
      <p:cViewPr varScale="1">
        <p:scale>
          <a:sx n="59" d="100"/>
          <a:sy n="59" d="100"/>
        </p:scale>
        <p:origin x="77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dirty="0"/>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12148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40838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dirty="0"/>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098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dirty="0"/>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23130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46116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86201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61486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dirty="0"/>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22183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dirty="0"/>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13291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dirty="0"/>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84076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dirty="0"/>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13853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099138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dirty="0"/>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44189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dirty="0"/>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899560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dirty="0"/>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dirty="0"/>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29748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93809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53383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3/25/2026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64233696"/>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84311" y="-304800"/>
            <a:ext cx="10453689" cy="2744129"/>
          </a:xfrm>
        </p:spPr>
        <p:txBody>
          <a:bodyPr>
            <a:noAutofit/>
          </a:bodyPr>
          <a:lstStyle/>
          <a:p>
            <a:pPr algn="l"/>
            <a:r>
              <a:rPr lang="en-US" sz="3000" b="1" dirty="0">
                <a:solidFill>
                  <a:schemeClr val="tx2"/>
                </a:solidFill>
                <a:latin typeface="Century Gothic"/>
              </a:rPr>
              <a:t>CHALAPATHI INSTITUTE OF ENGINEERING                          AND TECHNOLOGY(AUTONOMOUS)</a:t>
            </a:r>
            <a:br>
              <a:rPr lang="en-US" sz="3000" b="1" dirty="0">
                <a:solidFill>
                  <a:schemeClr val="tx2"/>
                </a:solidFill>
                <a:latin typeface="Century Gothic"/>
              </a:rPr>
            </a:br>
            <a:r>
              <a:rPr lang="en-US" sz="2000" b="1" i="1" dirty="0">
                <a:solidFill>
                  <a:schemeClr val="tx2"/>
                </a:solidFill>
                <a:latin typeface="Century Gothic"/>
              </a:rPr>
              <a:t>DEPARTMENT OF ELECTRONICS AND COMMUNICATION ENGINEERING</a:t>
            </a:r>
            <a:br>
              <a:rPr lang="en-US" sz="2000" b="1" i="1" dirty="0">
                <a:solidFill>
                  <a:schemeClr val="tx2"/>
                </a:solidFill>
                <a:latin typeface="Century Gothic"/>
              </a:rPr>
            </a:br>
            <a:r>
              <a:rPr lang="en-US" sz="2000" b="1" i="1" dirty="0">
                <a:solidFill>
                  <a:schemeClr val="tx2"/>
                </a:solidFill>
                <a:latin typeface="Century Gothic"/>
              </a:rPr>
              <a:t>                          </a:t>
            </a:r>
            <a:br>
              <a:rPr lang="en-US" sz="3000" b="1" dirty="0">
                <a:latin typeface="Century Gothic"/>
              </a:rPr>
            </a:br>
            <a:endParaRPr lang="en-US" sz="2000" b="1" i="1" dirty="0">
              <a:solidFill>
                <a:schemeClr val="tx2"/>
              </a:solidFill>
              <a:latin typeface="Century Gothic"/>
            </a:endParaRPr>
          </a:p>
        </p:txBody>
      </p:sp>
      <p:sp>
        <p:nvSpPr>
          <p:cNvPr id="3" name="Subtitle 2"/>
          <p:cNvSpPr>
            <a:spLocks noGrp="1"/>
          </p:cNvSpPr>
          <p:nvPr>
            <p:ph type="body" idx="1"/>
          </p:nvPr>
        </p:nvSpPr>
        <p:spPr>
          <a:xfrm>
            <a:off x="1772179" y="2439328"/>
            <a:ext cx="9742858" cy="607577"/>
          </a:xfrm>
        </p:spPr>
        <p:txBody>
          <a:bodyPr anchor="b">
            <a:noAutofit/>
          </a:bodyPr>
          <a:lstStyle/>
          <a:p>
            <a:pPr algn="l"/>
            <a:r>
              <a:rPr lang="en-US" sz="3200" b="1" dirty="0">
                <a:solidFill>
                  <a:srgbClr val="1287C3"/>
                </a:solidFill>
                <a:latin typeface="Corbel"/>
              </a:rPr>
              <a:t>          Industrial  Predective Maintenance</a:t>
            </a:r>
            <a:endParaRPr lang="en-US" sz="3200" b="1" dirty="0"/>
          </a:p>
        </p:txBody>
      </p:sp>
      <p:sp>
        <p:nvSpPr>
          <p:cNvPr id="5" name="Content Placeholder 4">
            <a:extLst>
              <a:ext uri="{FF2B5EF4-FFF2-40B4-BE49-F238E27FC236}">
                <a16:creationId xmlns:a16="http://schemas.microsoft.com/office/drawing/2014/main" id="{6E4CC06F-3626-CA6C-C055-2364D68EA506}"/>
              </a:ext>
            </a:extLst>
          </p:cNvPr>
          <p:cNvSpPr>
            <a:spLocks noGrp="1"/>
          </p:cNvSpPr>
          <p:nvPr>
            <p:ph sz="half" idx="2"/>
          </p:nvPr>
        </p:nvSpPr>
        <p:spPr>
          <a:xfrm>
            <a:off x="1484311" y="5141171"/>
            <a:ext cx="4863741" cy="1495534"/>
          </a:xfrm>
        </p:spPr>
        <p:txBody>
          <a:bodyPr>
            <a:normAutofit fontScale="85000" lnSpcReduction="10000"/>
          </a:bodyPr>
          <a:lstStyle/>
          <a:p>
            <a:pPr marL="0" indent="0">
              <a:spcBef>
                <a:spcPts val="1000"/>
              </a:spcBef>
              <a:spcAft>
                <a:spcPts val="0"/>
              </a:spcAft>
              <a:buNone/>
            </a:pPr>
            <a:r>
              <a:rPr lang="en-US" b="1" dirty="0">
                <a:solidFill>
                  <a:schemeClr val="tx1">
                    <a:lumMod val="95000"/>
                    <a:lumOff val="5000"/>
                  </a:schemeClr>
                </a:solidFill>
                <a:latin typeface="Arial"/>
                <a:cs typeface="Arial"/>
              </a:rPr>
              <a:t>Under the guidance of</a:t>
            </a:r>
            <a:endParaRPr lang="en-US" dirty="0">
              <a:latin typeface="Arial"/>
              <a:cs typeface="Arial"/>
            </a:endParaRPr>
          </a:p>
          <a:p>
            <a:pPr marL="0" indent="0">
              <a:spcBef>
                <a:spcPts val="1000"/>
              </a:spcBef>
              <a:spcAft>
                <a:spcPts val="0"/>
              </a:spcAft>
              <a:buClr>
                <a:srgbClr val="1287C3"/>
              </a:buClr>
              <a:buNone/>
            </a:pPr>
            <a:r>
              <a:rPr lang="en-US" b="1" dirty="0">
                <a:solidFill>
                  <a:schemeClr val="tx1">
                    <a:lumMod val="95000"/>
                    <a:lumOff val="5000"/>
                  </a:schemeClr>
                </a:solidFill>
                <a:latin typeface="Arial"/>
                <a:cs typeface="Arial"/>
              </a:rPr>
              <a:t>T . Srinivasa Reddy Sir</a:t>
            </a:r>
            <a:endParaRPr lang="en-US" dirty="0">
              <a:solidFill>
                <a:schemeClr val="tx1">
                  <a:lumMod val="95000"/>
                  <a:lumOff val="5000"/>
                </a:schemeClr>
              </a:solidFill>
              <a:latin typeface="Arial"/>
              <a:cs typeface="Arial"/>
            </a:endParaRPr>
          </a:p>
          <a:p>
            <a:pPr marL="0" indent="0">
              <a:buClr>
                <a:srgbClr val="1287C3"/>
              </a:buClr>
              <a:buNone/>
            </a:pPr>
            <a:endParaRPr lang="en-US" dirty="0"/>
          </a:p>
        </p:txBody>
      </p:sp>
      <p:sp>
        <p:nvSpPr>
          <p:cNvPr id="6" name="Text Placeholder 5">
            <a:extLst>
              <a:ext uri="{FF2B5EF4-FFF2-40B4-BE49-F238E27FC236}">
                <a16:creationId xmlns:a16="http://schemas.microsoft.com/office/drawing/2014/main" id="{BC3E9D59-86CC-3BDD-0E42-E39496C18A87}"/>
              </a:ext>
            </a:extLst>
          </p:cNvPr>
          <p:cNvSpPr>
            <a:spLocks noGrp="1"/>
          </p:cNvSpPr>
          <p:nvPr>
            <p:ph type="body" sz="quarter" idx="3"/>
          </p:nvPr>
        </p:nvSpPr>
        <p:spPr>
          <a:xfrm>
            <a:off x="7016185" y="3042781"/>
            <a:ext cx="4486839" cy="1338260"/>
          </a:xfrm>
        </p:spPr>
        <p:txBody>
          <a:bodyPr/>
          <a:lstStyle/>
          <a:p>
            <a:endParaRPr lang="en-US" sz="1800" dirty="0">
              <a:solidFill>
                <a:schemeClr val="tx1">
                  <a:lumMod val="95000"/>
                  <a:lumOff val="5000"/>
                </a:schemeClr>
              </a:solidFill>
              <a:latin typeface="Arial"/>
              <a:cs typeface="Arial"/>
            </a:endParaRPr>
          </a:p>
          <a:p>
            <a:endParaRPr lang="en-US" sz="1800" dirty="0">
              <a:solidFill>
                <a:schemeClr val="tx1">
                  <a:lumMod val="95000"/>
                  <a:lumOff val="5000"/>
                </a:schemeClr>
              </a:solidFill>
              <a:latin typeface="Arial"/>
              <a:cs typeface="Arial"/>
            </a:endParaRPr>
          </a:p>
          <a:p>
            <a:endParaRPr lang="en-US" sz="1800" dirty="0">
              <a:solidFill>
                <a:schemeClr val="tx1">
                  <a:lumMod val="95000"/>
                  <a:lumOff val="5000"/>
                </a:schemeClr>
              </a:solidFill>
              <a:latin typeface="Arial"/>
              <a:cs typeface="Arial"/>
            </a:endParaRPr>
          </a:p>
          <a:p>
            <a:endParaRPr lang="en-US" sz="1800" dirty="0">
              <a:solidFill>
                <a:schemeClr val="tx1">
                  <a:lumMod val="95000"/>
                  <a:lumOff val="5000"/>
                </a:schemeClr>
              </a:solidFill>
              <a:latin typeface="Arial"/>
              <a:cs typeface="Arial"/>
            </a:endParaRPr>
          </a:p>
          <a:p>
            <a:endParaRPr lang="en-US" sz="1800" dirty="0">
              <a:solidFill>
                <a:schemeClr val="tx1">
                  <a:lumMod val="95000"/>
                  <a:lumOff val="5000"/>
                </a:schemeClr>
              </a:solidFill>
              <a:latin typeface="Arial"/>
              <a:cs typeface="Arial"/>
            </a:endParaRPr>
          </a:p>
          <a:p>
            <a:endParaRPr lang="en-US" sz="1800" dirty="0">
              <a:solidFill>
                <a:schemeClr val="tx1">
                  <a:lumMod val="95000"/>
                  <a:lumOff val="5000"/>
                </a:schemeClr>
              </a:solidFill>
              <a:latin typeface="Arial"/>
              <a:cs typeface="Arial"/>
            </a:endParaRPr>
          </a:p>
          <a:p>
            <a:r>
              <a:rPr lang="en-US" sz="1800" b="1" dirty="0">
                <a:solidFill>
                  <a:schemeClr val="tx1">
                    <a:lumMod val="95000"/>
                    <a:lumOff val="5000"/>
                  </a:schemeClr>
                </a:solidFill>
                <a:latin typeface="Arial"/>
                <a:cs typeface="Arial"/>
              </a:rPr>
              <a:t>Presented by </a:t>
            </a:r>
            <a:endParaRPr lang="en-US" b="1" dirty="0">
              <a:solidFill>
                <a:schemeClr val="tx1">
                  <a:lumMod val="95000"/>
                  <a:lumOff val="5000"/>
                </a:schemeClr>
              </a:solidFill>
            </a:endParaRPr>
          </a:p>
          <a:p>
            <a:r>
              <a:rPr lang="en-US" sz="1800" b="1" dirty="0">
                <a:solidFill>
                  <a:schemeClr val="tx1">
                    <a:lumMod val="95000"/>
                    <a:lumOff val="5000"/>
                  </a:schemeClr>
                </a:solidFill>
                <a:latin typeface="Arial"/>
                <a:cs typeface="Arial"/>
              </a:rPr>
              <a:t>Batch 11</a:t>
            </a:r>
          </a:p>
        </p:txBody>
      </p:sp>
      <p:sp>
        <p:nvSpPr>
          <p:cNvPr id="7" name="Content Placeholder 6">
            <a:extLst>
              <a:ext uri="{FF2B5EF4-FFF2-40B4-BE49-F238E27FC236}">
                <a16:creationId xmlns:a16="http://schemas.microsoft.com/office/drawing/2014/main" id="{FB0E9A45-19AC-A02A-B643-A5B9ACCBB840}"/>
              </a:ext>
            </a:extLst>
          </p:cNvPr>
          <p:cNvSpPr>
            <a:spLocks noGrp="1"/>
          </p:cNvSpPr>
          <p:nvPr>
            <p:ph sz="quarter" idx="4"/>
          </p:nvPr>
        </p:nvSpPr>
        <p:spPr>
          <a:xfrm>
            <a:off x="7015062" y="4525308"/>
            <a:ext cx="4487961" cy="1359835"/>
          </a:xfrm>
        </p:spPr>
        <p:txBody>
          <a:bodyPr>
            <a:normAutofit fontScale="85000" lnSpcReduction="10000"/>
          </a:bodyPr>
          <a:lstStyle/>
          <a:p>
            <a:pPr marL="0" indent="0">
              <a:buNone/>
            </a:pPr>
            <a:r>
              <a:rPr lang="en-US" dirty="0">
                <a:solidFill>
                  <a:schemeClr val="tx1">
                    <a:lumMod val="95000"/>
                    <a:lumOff val="5000"/>
                  </a:schemeClr>
                </a:solidFill>
                <a:latin typeface="Arial"/>
                <a:cs typeface="Arial"/>
              </a:rPr>
              <a:t>Galla Divya Teja                     Y21ECE036</a:t>
            </a:r>
          </a:p>
          <a:p>
            <a:pPr marL="0" indent="0">
              <a:buNone/>
            </a:pPr>
            <a:r>
              <a:rPr lang="en-US" dirty="0">
                <a:solidFill>
                  <a:schemeClr val="tx1">
                    <a:lumMod val="95000"/>
                    <a:lumOff val="5000"/>
                  </a:schemeClr>
                </a:solidFill>
                <a:latin typeface="Arial"/>
                <a:cs typeface="Arial"/>
              </a:rPr>
              <a:t>Gottam Venkatesh          Y21ECE048</a:t>
            </a:r>
          </a:p>
          <a:p>
            <a:pPr marL="0" indent="0">
              <a:buNone/>
            </a:pPr>
            <a:r>
              <a:rPr lang="en-US" dirty="0">
                <a:solidFill>
                  <a:schemeClr val="tx1">
                    <a:lumMod val="95000"/>
                    <a:lumOff val="5000"/>
                  </a:schemeClr>
                </a:solidFill>
                <a:latin typeface="Arial"/>
                <a:cs typeface="Arial"/>
              </a:rPr>
              <a:t>Chintha Ramanji                     Y21ECE021</a:t>
            </a:r>
          </a:p>
          <a:p>
            <a:pPr marL="0" indent="0">
              <a:buNone/>
            </a:pPr>
            <a:r>
              <a:rPr lang="en-US" dirty="0">
                <a:solidFill>
                  <a:schemeClr val="tx1">
                    <a:lumMod val="95000"/>
                    <a:lumOff val="5000"/>
                  </a:schemeClr>
                </a:solidFill>
                <a:latin typeface="Arial"/>
                <a:cs typeface="Arial"/>
              </a:rPr>
              <a:t>Induri Sivasai Lakshmi reddy       Y21ECE054</a:t>
            </a:r>
          </a:p>
        </p:txBody>
      </p:sp>
      <p:pic>
        <p:nvPicPr>
          <p:cNvPr id="4" name="Picture 3" descr="A red and white logo&#10;&#10;AI-generated content may be incorrect.">
            <a:extLst>
              <a:ext uri="{FF2B5EF4-FFF2-40B4-BE49-F238E27FC236}">
                <a16:creationId xmlns:a16="http://schemas.microsoft.com/office/drawing/2014/main" id="{14E69BDC-BF13-FFF8-876F-A3E418729347}"/>
              </a:ext>
            </a:extLst>
          </p:cNvPr>
          <p:cNvPicPr>
            <a:picLocks noChangeAspect="1"/>
          </p:cNvPicPr>
          <p:nvPr/>
        </p:nvPicPr>
        <p:blipFill>
          <a:blip r:embed="rId2"/>
          <a:stretch>
            <a:fillRect/>
          </a:stretch>
        </p:blipFill>
        <p:spPr>
          <a:xfrm>
            <a:off x="9938657" y="126381"/>
            <a:ext cx="2253343" cy="1408505"/>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B6875-0AC8-7929-0D1F-3955E5F80912}"/>
              </a:ext>
            </a:extLst>
          </p:cNvPr>
          <p:cNvSpPr>
            <a:spLocks noGrp="1"/>
          </p:cNvSpPr>
          <p:nvPr>
            <p:ph type="title"/>
          </p:nvPr>
        </p:nvSpPr>
        <p:spPr>
          <a:xfrm>
            <a:off x="1254667" y="310019"/>
            <a:ext cx="3995782" cy="1752598"/>
          </a:xfrm>
        </p:spPr>
        <p:txBody>
          <a:bodyPr>
            <a:normAutofit/>
          </a:bodyPr>
          <a:lstStyle/>
          <a:p>
            <a:r>
              <a:rPr lang="en-US" sz="4400" b="1" dirty="0">
                <a:solidFill>
                  <a:srgbClr val="178DBB"/>
                </a:solidFill>
                <a:latin typeface="Times New Roman"/>
                <a:ea typeface="+mj-lt"/>
                <a:cs typeface="Times New Roman"/>
              </a:rPr>
              <a:t>ABSTRACT</a:t>
            </a:r>
            <a:endParaRPr lang="en-US" sz="4400" dirty="0"/>
          </a:p>
        </p:txBody>
      </p:sp>
      <p:sp>
        <p:nvSpPr>
          <p:cNvPr id="3" name="Content Placeholder 2">
            <a:extLst>
              <a:ext uri="{FF2B5EF4-FFF2-40B4-BE49-F238E27FC236}">
                <a16:creationId xmlns:a16="http://schemas.microsoft.com/office/drawing/2014/main" id="{7F170DE5-8056-72D7-749D-135A346B2A08}"/>
              </a:ext>
            </a:extLst>
          </p:cNvPr>
          <p:cNvSpPr>
            <a:spLocks noGrp="1"/>
          </p:cNvSpPr>
          <p:nvPr>
            <p:ph idx="1"/>
          </p:nvPr>
        </p:nvSpPr>
        <p:spPr>
          <a:xfrm>
            <a:off x="1351280" y="1508342"/>
            <a:ext cx="9922099" cy="4384457"/>
          </a:xfrm>
        </p:spPr>
        <p:txBody>
          <a:bodyPr vert="horz" lIns="91440" tIns="45720" rIns="91440" bIns="45720" rtlCol="0" anchor="ctr">
            <a:noAutofit/>
          </a:bodyPr>
          <a:lstStyle/>
          <a:p>
            <a:pPr marL="0" indent="0">
              <a:lnSpc>
                <a:spcPct val="150000"/>
              </a:lnSpc>
              <a:spcBef>
                <a:spcPts val="1400"/>
              </a:spcBef>
              <a:buNone/>
            </a:pPr>
            <a:r>
              <a:rPr lang="en-IN" sz="2000" dirty="0">
                <a:effectLst/>
                <a:ea typeface="DengXian" panose="02010600030101010101" pitchFamily="2" charset="-122"/>
              </a:rPr>
              <a:t>Industrial predictive maintenance (PdM) is a proactive approach to equipment maintenance that uses advanced data analytics, machine learning, and sensor technologies to predict when machinery or assets are likely to fail. Unlike traditional reactive or preventive maintenance strategies, PdM aims to optimize maintenance schedules by detecting early signs of equipment degradation, enabling timely interventions that prevent unplanned downtime, reduce operational costs, and extend the life of machinery. </a:t>
            </a:r>
            <a:r>
              <a:rPr lang="en-IN" sz="2000" kern="100" dirty="0">
                <a:effectLst/>
                <a:ea typeface="DengXian" panose="02010600030101010101" pitchFamily="2" charset="-122"/>
                <a:cs typeface="Arial" panose="020B0604020202020204" pitchFamily="34" charset="0"/>
              </a:rPr>
              <a:t>The adoption of industrial predictive maintenance is transforming industries such as manufacturing, energy, and transportation, where equipment reliability is critical to operational success and safety.</a:t>
            </a:r>
          </a:p>
          <a:p>
            <a:pPr marL="0" indent="0">
              <a:lnSpc>
                <a:spcPct val="150000"/>
              </a:lnSpc>
              <a:spcBef>
                <a:spcPts val="1400"/>
              </a:spcBef>
              <a:buNone/>
            </a:pPr>
            <a:endParaRPr lang="en-US" sz="2000" dirty="0"/>
          </a:p>
        </p:txBody>
      </p:sp>
    </p:spTree>
    <p:extLst>
      <p:ext uri="{BB962C8B-B14F-4D97-AF65-F5344CB8AC3E}">
        <p14:creationId xmlns:p14="http://schemas.microsoft.com/office/powerpoint/2010/main" val="2064130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37C0B-BB99-260D-A862-E6D98BD65396}"/>
              </a:ext>
            </a:extLst>
          </p:cNvPr>
          <p:cNvSpPr>
            <a:spLocks noGrp="1"/>
          </p:cNvSpPr>
          <p:nvPr>
            <p:ph type="title"/>
          </p:nvPr>
        </p:nvSpPr>
        <p:spPr>
          <a:xfrm>
            <a:off x="1452996" y="330896"/>
            <a:ext cx="5039618" cy="1136735"/>
          </a:xfrm>
        </p:spPr>
        <p:txBody>
          <a:bodyPr>
            <a:noAutofit/>
          </a:bodyPr>
          <a:lstStyle/>
          <a:p>
            <a:r>
              <a:rPr lang="en-US" sz="4400" b="1" dirty="0">
                <a:solidFill>
                  <a:srgbClr val="178DBB"/>
                </a:solidFill>
                <a:latin typeface="Times New Roman"/>
                <a:cs typeface="Times New Roman"/>
              </a:rPr>
              <a:t>INTRODUCTION</a:t>
            </a:r>
            <a:endParaRPr lang="en-US" sz="4400" dirty="0"/>
          </a:p>
        </p:txBody>
      </p:sp>
      <p:sp>
        <p:nvSpPr>
          <p:cNvPr id="3" name="Content Placeholder 2">
            <a:extLst>
              <a:ext uri="{FF2B5EF4-FFF2-40B4-BE49-F238E27FC236}">
                <a16:creationId xmlns:a16="http://schemas.microsoft.com/office/drawing/2014/main" id="{F2198EBE-5F3D-547F-FFD8-D2AB1AE7CF68}"/>
              </a:ext>
            </a:extLst>
          </p:cNvPr>
          <p:cNvSpPr>
            <a:spLocks noGrp="1"/>
          </p:cNvSpPr>
          <p:nvPr>
            <p:ph idx="1"/>
          </p:nvPr>
        </p:nvSpPr>
        <p:spPr>
          <a:xfrm>
            <a:off x="1484310" y="1049054"/>
            <a:ext cx="10018713" cy="4804776"/>
          </a:xfrm>
        </p:spPr>
        <p:txBody>
          <a:bodyPr vert="horz" lIns="91440" tIns="45720" rIns="91440" bIns="45720" rtlCol="0" anchor="ctr">
            <a:noAutofit/>
          </a:bodyPr>
          <a:lstStyle/>
          <a:p>
            <a:pPr>
              <a:lnSpc>
                <a:spcPct val="160000"/>
              </a:lnSpc>
              <a:spcBef>
                <a:spcPts val="1400"/>
              </a:spcBef>
            </a:pPr>
            <a:r>
              <a:rPr lang="en-IN" sz="2000" dirty="0">
                <a:effectLst/>
                <a:ea typeface="DengXian" panose="02010600030101010101" pitchFamily="2" charset="-122"/>
              </a:rPr>
              <a:t>In the rapidly evolving world of industrial operations, the ability to predict and prevent equipment failures is crucial to maintaining optimal productivity and minimizing costly downtimes.</a:t>
            </a:r>
            <a:r>
              <a:rPr lang="en-IN" sz="1800" dirty="0">
                <a:effectLst/>
                <a:latin typeface="Times New Roman" panose="02020603050405020304" pitchFamily="18" charset="0"/>
                <a:ea typeface="DengXian" panose="02010600030101010101" pitchFamily="2" charset="-122"/>
              </a:rPr>
              <a:t> </a:t>
            </a:r>
          </a:p>
          <a:p>
            <a:pPr>
              <a:lnSpc>
                <a:spcPct val="160000"/>
              </a:lnSpc>
              <a:spcBef>
                <a:spcPts val="1400"/>
              </a:spcBef>
            </a:pPr>
            <a:r>
              <a:rPr lang="en-US" sz="2000" dirty="0">
                <a:ea typeface="+mn-lt"/>
                <a:cs typeface="+mn-lt"/>
              </a:rPr>
              <a:t>By using IoT sensors, data analytics, and machine learning, businesses can optimize their maintenance schedules and improve operational efficiency..</a:t>
            </a:r>
          </a:p>
          <a:p>
            <a:pPr algn="just">
              <a:lnSpc>
                <a:spcPct val="115000"/>
              </a:lnSpc>
              <a:spcAft>
                <a:spcPts val="800"/>
              </a:spcAft>
            </a:pPr>
            <a:r>
              <a:rPr lang="en-IN" sz="2000" kern="100" dirty="0">
                <a:effectLst/>
                <a:ea typeface="DengXian" panose="02010600030101010101" pitchFamily="2" charset="-122"/>
                <a:cs typeface="Arial" panose="020B0604020202020204" pitchFamily="34" charset="0"/>
              </a:rPr>
              <a:t>While this strategy helps mitigate unexpected failures, it can be wasteful, as it often involves replacing parts or conducting maintenance even when equipment is still in good working condition.</a:t>
            </a:r>
          </a:p>
        </p:txBody>
      </p:sp>
    </p:spTree>
    <p:extLst>
      <p:ext uri="{BB962C8B-B14F-4D97-AF65-F5344CB8AC3E}">
        <p14:creationId xmlns:p14="http://schemas.microsoft.com/office/powerpoint/2010/main" val="2954489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2BEF-EA71-3150-9FD3-A4DB4442A327}"/>
              </a:ext>
            </a:extLst>
          </p:cNvPr>
          <p:cNvSpPr>
            <a:spLocks noGrp="1"/>
          </p:cNvSpPr>
          <p:nvPr>
            <p:ph type="title"/>
          </p:nvPr>
        </p:nvSpPr>
        <p:spPr>
          <a:xfrm>
            <a:off x="-4893525" y="-368474"/>
            <a:ext cx="16396549" cy="2806873"/>
          </a:xfrm>
        </p:spPr>
        <p:txBody>
          <a:bodyPr>
            <a:normAutofit/>
          </a:bodyPr>
          <a:lstStyle/>
          <a:p>
            <a:r>
              <a:rPr lang="en-US" sz="4400" b="1" dirty="0">
                <a:solidFill>
                  <a:srgbClr val="178DBB"/>
                </a:solidFill>
                <a:latin typeface="Times New Roman"/>
                <a:cs typeface="Times New Roman"/>
              </a:rPr>
              <a:t>OBJECTIVE</a:t>
            </a:r>
            <a:endParaRPr lang="en-US" sz="4400" dirty="0"/>
          </a:p>
        </p:txBody>
      </p:sp>
      <p:sp>
        <p:nvSpPr>
          <p:cNvPr id="3" name="Content Placeholder 2">
            <a:extLst>
              <a:ext uri="{FF2B5EF4-FFF2-40B4-BE49-F238E27FC236}">
                <a16:creationId xmlns:a16="http://schemas.microsoft.com/office/drawing/2014/main" id="{8047B35D-BECC-B1FD-9F27-93C302B289B4}"/>
              </a:ext>
            </a:extLst>
          </p:cNvPr>
          <p:cNvSpPr>
            <a:spLocks noGrp="1"/>
          </p:cNvSpPr>
          <p:nvPr>
            <p:ph idx="1"/>
          </p:nvPr>
        </p:nvSpPr>
        <p:spPr>
          <a:xfrm>
            <a:off x="1703515" y="1863246"/>
            <a:ext cx="9799508" cy="3927954"/>
          </a:xfrm>
        </p:spPr>
        <p:txBody>
          <a:bodyPr>
            <a:normAutofit fontScale="92500"/>
          </a:bodyPr>
          <a:lstStyle/>
          <a:p>
            <a:pPr>
              <a:lnSpc>
                <a:spcPct val="160000"/>
              </a:lnSpc>
              <a:spcBef>
                <a:spcPts val="1400"/>
              </a:spcBef>
            </a:pPr>
            <a:r>
              <a:rPr lang="en-US" sz="2000" dirty="0">
                <a:ea typeface="+mn-lt"/>
                <a:cs typeface="+mn-lt"/>
              </a:rPr>
              <a:t>The main objective of the Blockchain Based Digital Cheque Clearance and Verification system is to develop an alternative to the regular and traditional Cheque Clearance system to faster Digital Cheque Clearance in very less time by the help of blockchain system</a:t>
            </a:r>
          </a:p>
          <a:p>
            <a:pPr>
              <a:lnSpc>
                <a:spcPct val="160000"/>
              </a:lnSpc>
              <a:spcBef>
                <a:spcPts val="1400"/>
              </a:spcBef>
            </a:pPr>
            <a:r>
              <a:rPr lang="en-US" sz="2000" dirty="0">
                <a:ea typeface="+mn-lt"/>
                <a:cs typeface="+mn-lt"/>
              </a:rPr>
              <a:t>The traditional CITS which use Magnetic ink character recognition(MICR) and Optical Character Recognition(OCR) technologies which focuses on the features of watermarks, ultraviolet light (UV) rays, pantographic images and various microscopic features on the scanned copy of the manual cheque has a limited functionality.</a:t>
            </a:r>
          </a:p>
        </p:txBody>
      </p:sp>
    </p:spTree>
    <p:extLst>
      <p:ext uri="{BB962C8B-B14F-4D97-AF65-F5344CB8AC3E}">
        <p14:creationId xmlns:p14="http://schemas.microsoft.com/office/powerpoint/2010/main" val="2266012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8C678-C3BB-75CD-D26E-E197DC0809BC}"/>
              </a:ext>
            </a:extLst>
          </p:cNvPr>
          <p:cNvSpPr>
            <a:spLocks noGrp="1"/>
          </p:cNvSpPr>
          <p:nvPr>
            <p:ph type="title"/>
          </p:nvPr>
        </p:nvSpPr>
        <p:spPr>
          <a:xfrm>
            <a:off x="-2857879" y="-318104"/>
            <a:ext cx="14360903" cy="2756503"/>
          </a:xfrm>
        </p:spPr>
        <p:txBody>
          <a:bodyPr>
            <a:normAutofit/>
          </a:bodyPr>
          <a:lstStyle/>
          <a:p>
            <a:r>
              <a:rPr lang="en-US" sz="4400" b="1" dirty="0">
                <a:solidFill>
                  <a:srgbClr val="178DBB"/>
                </a:solidFill>
                <a:latin typeface="Times New Roman"/>
                <a:cs typeface="Times New Roman"/>
              </a:rPr>
              <a:t>EXISTING SYSTEM</a:t>
            </a:r>
            <a:endParaRPr lang="en-US" sz="4400" dirty="0"/>
          </a:p>
        </p:txBody>
      </p:sp>
      <p:sp>
        <p:nvSpPr>
          <p:cNvPr id="3" name="Content Placeholder 2">
            <a:extLst>
              <a:ext uri="{FF2B5EF4-FFF2-40B4-BE49-F238E27FC236}">
                <a16:creationId xmlns:a16="http://schemas.microsoft.com/office/drawing/2014/main" id="{93D3E029-3975-54DC-1B9C-28F1E6C40A82}"/>
              </a:ext>
            </a:extLst>
          </p:cNvPr>
          <p:cNvSpPr>
            <a:spLocks noGrp="1"/>
          </p:cNvSpPr>
          <p:nvPr>
            <p:ph idx="1"/>
          </p:nvPr>
        </p:nvSpPr>
        <p:spPr>
          <a:xfrm>
            <a:off x="1484310" y="1409095"/>
            <a:ext cx="10018713" cy="4382105"/>
          </a:xfrm>
        </p:spPr>
        <p:txBody>
          <a:bodyPr>
            <a:normAutofit/>
          </a:bodyPr>
          <a:lstStyle/>
          <a:p>
            <a:pPr>
              <a:lnSpc>
                <a:spcPct val="160000"/>
              </a:lnSpc>
              <a:spcBef>
                <a:spcPts val="1400"/>
              </a:spcBef>
            </a:pPr>
            <a:r>
              <a:rPr lang="en-US" sz="2000" dirty="0">
                <a:ea typeface="+mn-lt"/>
                <a:cs typeface="+mn-lt"/>
              </a:rPr>
              <a:t>  Current predictive maintenance systems face challenges related to sensor integration, data quality, cost, and scalability.</a:t>
            </a:r>
          </a:p>
          <a:p>
            <a:pPr>
              <a:lnSpc>
                <a:spcPct val="160000"/>
              </a:lnSpc>
              <a:spcBef>
                <a:spcPts val="1400"/>
              </a:spcBef>
            </a:pPr>
            <a:r>
              <a:rPr lang="en-US" sz="2000" dirty="0">
                <a:ea typeface="+mn-lt"/>
                <a:cs typeface="+mn-lt"/>
              </a:rPr>
              <a:t> PdM systems rely on sensor networks, data acquisition systems, real-time monitoring, and predictive analytics.</a:t>
            </a:r>
          </a:p>
          <a:p>
            <a:pPr>
              <a:lnSpc>
                <a:spcPct val="160000"/>
              </a:lnSpc>
              <a:spcBef>
                <a:spcPts val="1400"/>
              </a:spcBef>
            </a:pPr>
            <a:r>
              <a:rPr lang="en-US" sz="2000" dirty="0">
                <a:ea typeface="+mn-lt"/>
                <a:cs typeface="+mn-lt"/>
              </a:rPr>
              <a:t>Despite benefits, PdM systems face technological, financial, and operational challenges hindering widespread adoption and effective implementation.</a:t>
            </a:r>
          </a:p>
        </p:txBody>
      </p:sp>
    </p:spTree>
    <p:extLst>
      <p:ext uri="{BB962C8B-B14F-4D97-AF65-F5344CB8AC3E}">
        <p14:creationId xmlns:p14="http://schemas.microsoft.com/office/powerpoint/2010/main" val="3528034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2CBE7-57E1-72C2-B72B-13DBC66C7151}"/>
              </a:ext>
            </a:extLst>
          </p:cNvPr>
          <p:cNvSpPr>
            <a:spLocks noGrp="1"/>
          </p:cNvSpPr>
          <p:nvPr>
            <p:ph type="title"/>
          </p:nvPr>
        </p:nvSpPr>
        <p:spPr>
          <a:xfrm>
            <a:off x="-2434546" y="-668866"/>
            <a:ext cx="13937570" cy="3107265"/>
          </a:xfrm>
        </p:spPr>
        <p:txBody>
          <a:bodyPr>
            <a:normAutofit/>
          </a:bodyPr>
          <a:lstStyle/>
          <a:p>
            <a:r>
              <a:rPr lang="en-US" sz="4400" b="1" dirty="0">
                <a:solidFill>
                  <a:srgbClr val="178DBB"/>
                </a:solidFill>
                <a:latin typeface="Times New Roman"/>
                <a:cs typeface="Times New Roman"/>
              </a:rPr>
              <a:t>PROPOSED SYSTEM</a:t>
            </a:r>
            <a:endParaRPr lang="en-US" sz="4400" dirty="0"/>
          </a:p>
        </p:txBody>
      </p:sp>
      <p:sp>
        <p:nvSpPr>
          <p:cNvPr id="3" name="Content Placeholder 2">
            <a:extLst>
              <a:ext uri="{FF2B5EF4-FFF2-40B4-BE49-F238E27FC236}">
                <a16:creationId xmlns:a16="http://schemas.microsoft.com/office/drawing/2014/main" id="{D05CE874-558E-5C01-BA7E-915D9B3779CB}"/>
              </a:ext>
            </a:extLst>
          </p:cNvPr>
          <p:cNvSpPr>
            <a:spLocks noGrp="1"/>
          </p:cNvSpPr>
          <p:nvPr>
            <p:ph idx="1"/>
          </p:nvPr>
        </p:nvSpPr>
        <p:spPr>
          <a:xfrm>
            <a:off x="1484310" y="901096"/>
            <a:ext cx="10018713" cy="4890104"/>
          </a:xfrm>
        </p:spPr>
        <p:txBody>
          <a:bodyPr>
            <a:normAutofit/>
          </a:bodyPr>
          <a:lstStyle/>
          <a:p>
            <a:pPr>
              <a:lnSpc>
                <a:spcPct val="170000"/>
              </a:lnSpc>
              <a:spcBef>
                <a:spcPts val="1400"/>
              </a:spcBef>
            </a:pPr>
            <a:r>
              <a:rPr lang="en-US" sz="2000" dirty="0">
                <a:ea typeface="+mn-lt"/>
                <a:cs typeface="+mn-lt"/>
              </a:rPr>
              <a:t>A new system is proposed to overcome these limitations, utilizing advanced technologies like IoT sensors, edge computing, cloud-based analytics, and AI models.</a:t>
            </a:r>
          </a:p>
          <a:p>
            <a:pPr>
              <a:lnSpc>
                <a:spcPct val="170000"/>
              </a:lnSpc>
              <a:spcBef>
                <a:spcPts val="1400"/>
              </a:spcBef>
            </a:pPr>
            <a:r>
              <a:rPr lang="en-US" sz="2000" dirty="0">
                <a:ea typeface="+mn-lt"/>
                <a:cs typeface="+mn-lt"/>
              </a:rPr>
              <a:t>The proposed system aims to provide real-time, actionable insights to predict failures and optimize maintenance tasks, creating a more seamless and efficient predictive maintenance process.</a:t>
            </a:r>
          </a:p>
        </p:txBody>
      </p:sp>
    </p:spTree>
    <p:extLst>
      <p:ext uri="{BB962C8B-B14F-4D97-AF65-F5344CB8AC3E}">
        <p14:creationId xmlns:p14="http://schemas.microsoft.com/office/powerpoint/2010/main" val="437417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C15C-B997-C85F-C742-835BEDF68EBD}"/>
              </a:ext>
            </a:extLst>
          </p:cNvPr>
          <p:cNvSpPr>
            <a:spLocks noGrp="1"/>
          </p:cNvSpPr>
          <p:nvPr>
            <p:ph type="title"/>
          </p:nvPr>
        </p:nvSpPr>
        <p:spPr>
          <a:xfrm>
            <a:off x="-934736" y="-511628"/>
            <a:ext cx="12437760" cy="2950027"/>
          </a:xfrm>
        </p:spPr>
        <p:txBody>
          <a:bodyPr>
            <a:normAutofit/>
          </a:bodyPr>
          <a:lstStyle/>
          <a:p>
            <a:r>
              <a:rPr lang="en-US" sz="4400" b="1" dirty="0">
                <a:solidFill>
                  <a:srgbClr val="178DBB"/>
                </a:solidFill>
                <a:latin typeface="Times New Roman"/>
                <a:cs typeface="Times New Roman"/>
              </a:rPr>
              <a:t>SYSTEM ARCHITECTURE</a:t>
            </a:r>
            <a:endParaRPr lang="en-US" sz="4400" dirty="0"/>
          </a:p>
        </p:txBody>
      </p:sp>
      <p:pic>
        <p:nvPicPr>
          <p:cNvPr id="11" name="Content Placeholder 10">
            <a:extLst>
              <a:ext uri="{FF2B5EF4-FFF2-40B4-BE49-F238E27FC236}">
                <a16:creationId xmlns:a16="http://schemas.microsoft.com/office/drawing/2014/main" id="{8B52BF43-561D-CC6C-E65B-7814DED31C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6211" y="1866900"/>
            <a:ext cx="6858859" cy="3600000"/>
          </a:xfrm>
        </p:spPr>
      </p:pic>
    </p:spTree>
    <p:extLst>
      <p:ext uri="{BB962C8B-B14F-4D97-AF65-F5344CB8AC3E}">
        <p14:creationId xmlns:p14="http://schemas.microsoft.com/office/powerpoint/2010/main" val="1961568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9738F-B75A-3389-D3CF-4BDBE83BF58C}"/>
              </a:ext>
            </a:extLst>
          </p:cNvPr>
          <p:cNvSpPr>
            <a:spLocks noGrp="1"/>
          </p:cNvSpPr>
          <p:nvPr>
            <p:ph type="title"/>
          </p:nvPr>
        </p:nvSpPr>
        <p:spPr>
          <a:xfrm>
            <a:off x="-174532" y="-136676"/>
            <a:ext cx="11689651" cy="2042884"/>
          </a:xfrm>
        </p:spPr>
        <p:txBody>
          <a:bodyPr>
            <a:normAutofit/>
          </a:bodyPr>
          <a:lstStyle/>
          <a:p>
            <a:r>
              <a:rPr lang="en-US" sz="4400" b="1" dirty="0">
                <a:solidFill>
                  <a:srgbClr val="178DBB"/>
                </a:solidFill>
                <a:latin typeface="Times New Roman"/>
                <a:cs typeface="Times New Roman"/>
              </a:rPr>
              <a:t>HARDWARE REQUIREMENTS</a:t>
            </a:r>
            <a:endParaRPr lang="en-US" sz="4400" dirty="0"/>
          </a:p>
          <a:p>
            <a:endParaRPr lang="en-US" dirty="0"/>
          </a:p>
        </p:txBody>
      </p:sp>
      <p:sp>
        <p:nvSpPr>
          <p:cNvPr id="10" name="Content Placeholder 9">
            <a:extLst>
              <a:ext uri="{FF2B5EF4-FFF2-40B4-BE49-F238E27FC236}">
                <a16:creationId xmlns:a16="http://schemas.microsoft.com/office/drawing/2014/main" id="{D14008D9-2729-43B8-D5EA-440DFE7047A3}"/>
              </a:ext>
            </a:extLst>
          </p:cNvPr>
          <p:cNvSpPr>
            <a:spLocks noGrp="1"/>
          </p:cNvSpPr>
          <p:nvPr>
            <p:ph idx="1"/>
          </p:nvPr>
        </p:nvSpPr>
        <p:spPr>
          <a:xfrm>
            <a:off x="1484310" y="913189"/>
            <a:ext cx="10030808" cy="5349726"/>
          </a:xfrm>
        </p:spPr>
        <p:txBody>
          <a:bodyPr>
            <a:normAutofit/>
          </a:bodyPr>
          <a:lstStyle/>
          <a:p>
            <a:pPr>
              <a:lnSpc>
                <a:spcPct val="170000"/>
              </a:lnSpc>
              <a:spcBef>
                <a:spcPts val="1400"/>
              </a:spcBef>
            </a:pPr>
            <a:r>
              <a:rPr lang="en-US" sz="2000" dirty="0">
                <a:ea typeface="+mn-lt"/>
                <a:cs typeface="+mn-lt"/>
              </a:rPr>
              <a:t>Processor - i5 or i7 processor</a:t>
            </a:r>
          </a:p>
          <a:p>
            <a:pPr>
              <a:lnSpc>
                <a:spcPct val="170000"/>
              </a:lnSpc>
              <a:spcBef>
                <a:spcPts val="1400"/>
              </a:spcBef>
            </a:pPr>
            <a:r>
              <a:rPr lang="en-US" sz="2000" dirty="0">
                <a:ea typeface="+mn-lt"/>
                <a:cs typeface="+mn-lt"/>
              </a:rPr>
              <a:t>RAM -4 GB(min)</a:t>
            </a:r>
          </a:p>
          <a:p>
            <a:pPr>
              <a:lnSpc>
                <a:spcPct val="170000"/>
              </a:lnSpc>
              <a:spcBef>
                <a:spcPts val="1400"/>
              </a:spcBef>
            </a:pPr>
            <a:r>
              <a:rPr lang="en-US" sz="2000" dirty="0">
                <a:ea typeface="+mn-lt"/>
                <a:cs typeface="+mn-lt"/>
              </a:rPr>
              <a:t>Hard Disk - 40 GB</a:t>
            </a:r>
          </a:p>
          <a:p>
            <a:pPr>
              <a:lnSpc>
                <a:spcPct val="170000"/>
              </a:lnSpc>
              <a:spcBef>
                <a:spcPts val="1400"/>
              </a:spcBef>
            </a:pPr>
            <a:r>
              <a:rPr lang="en-US" sz="2000" dirty="0">
                <a:ea typeface="+mn-lt"/>
                <a:cs typeface="+mn-lt"/>
              </a:rPr>
              <a:t>Keyboard - Standard Windows Keyboard</a:t>
            </a:r>
          </a:p>
          <a:p>
            <a:pPr>
              <a:lnSpc>
                <a:spcPct val="170000"/>
              </a:lnSpc>
              <a:spcBef>
                <a:spcPts val="1400"/>
              </a:spcBef>
            </a:pPr>
            <a:r>
              <a:rPr lang="en-US" sz="2000" dirty="0">
                <a:ea typeface="+mn-lt"/>
                <a:cs typeface="+mn-lt"/>
              </a:rPr>
              <a:t>Mouse - Two or Three Button Mouse</a:t>
            </a:r>
          </a:p>
          <a:p>
            <a:pPr>
              <a:lnSpc>
                <a:spcPct val="170000"/>
              </a:lnSpc>
              <a:spcBef>
                <a:spcPts val="1400"/>
              </a:spcBef>
            </a:pPr>
            <a:r>
              <a:rPr lang="en-US" sz="2000" dirty="0">
                <a:ea typeface="+mn-lt"/>
                <a:cs typeface="+mn-lt"/>
              </a:rPr>
              <a:t>Monitor - SVGA 21</a:t>
            </a:r>
          </a:p>
        </p:txBody>
      </p:sp>
    </p:spTree>
    <p:extLst>
      <p:ext uri="{BB962C8B-B14F-4D97-AF65-F5344CB8AC3E}">
        <p14:creationId xmlns:p14="http://schemas.microsoft.com/office/powerpoint/2010/main" val="2527655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AD0E5-61C3-6B91-5A21-D70799D64BBA}"/>
              </a:ext>
            </a:extLst>
          </p:cNvPr>
          <p:cNvSpPr>
            <a:spLocks noGrp="1"/>
          </p:cNvSpPr>
          <p:nvPr>
            <p:ph type="title"/>
          </p:nvPr>
        </p:nvSpPr>
        <p:spPr>
          <a:xfrm>
            <a:off x="117549" y="-197152"/>
            <a:ext cx="10018713" cy="2550884"/>
          </a:xfrm>
        </p:spPr>
        <p:txBody>
          <a:bodyPr/>
          <a:lstStyle/>
          <a:p>
            <a:r>
              <a:rPr lang="en-US" sz="3600" b="1" dirty="0">
                <a:solidFill>
                  <a:srgbClr val="178DBB"/>
                </a:solidFill>
                <a:latin typeface="Times New Roman"/>
                <a:cs typeface="Times New Roman"/>
              </a:rPr>
              <a:t>SORTWARE REQUIREMENTS</a:t>
            </a:r>
            <a:endParaRPr lang="en-US" dirty="0"/>
          </a:p>
        </p:txBody>
      </p:sp>
      <p:sp>
        <p:nvSpPr>
          <p:cNvPr id="3" name="Content Placeholder 2">
            <a:extLst>
              <a:ext uri="{FF2B5EF4-FFF2-40B4-BE49-F238E27FC236}">
                <a16:creationId xmlns:a16="http://schemas.microsoft.com/office/drawing/2014/main" id="{23CA2A9F-A9BF-16E2-BA4C-85B9E5C7FBD0}"/>
              </a:ext>
            </a:extLst>
          </p:cNvPr>
          <p:cNvSpPr>
            <a:spLocks noGrp="1"/>
          </p:cNvSpPr>
          <p:nvPr>
            <p:ph idx="1"/>
          </p:nvPr>
        </p:nvSpPr>
        <p:spPr>
          <a:xfrm>
            <a:off x="1484310" y="1892904"/>
            <a:ext cx="10018713" cy="3184677"/>
          </a:xfrm>
        </p:spPr>
        <p:txBody>
          <a:bodyPr/>
          <a:lstStyle/>
          <a:p>
            <a:r>
              <a:rPr lang="en-US" dirty="0">
                <a:ea typeface="+mn-lt"/>
                <a:cs typeface="+mn-lt"/>
              </a:rPr>
              <a:t>Operating system : Windows 7 Ultimate or above.</a:t>
            </a:r>
            <a:endParaRPr lang="en-US" dirty="0"/>
          </a:p>
          <a:p>
            <a:pPr>
              <a:buClr>
                <a:srgbClr val="1287C3"/>
              </a:buClr>
            </a:pPr>
            <a:r>
              <a:rPr lang="en-US" dirty="0">
                <a:ea typeface="+mn-lt"/>
                <a:cs typeface="+mn-lt"/>
              </a:rPr>
              <a:t>Coding Language : Python.</a:t>
            </a:r>
            <a:endParaRPr lang="en-US" dirty="0"/>
          </a:p>
          <a:p>
            <a:pPr>
              <a:buClr>
                <a:srgbClr val="1287C3"/>
              </a:buClr>
            </a:pPr>
            <a:r>
              <a:rPr lang="en-US" dirty="0">
                <a:ea typeface="+mn-lt"/>
                <a:cs typeface="+mn-lt"/>
              </a:rPr>
              <a:t>Front-End : HTML or CSS or Jupiter note .</a:t>
            </a:r>
            <a:endParaRPr lang="en-US" dirty="0"/>
          </a:p>
          <a:p>
            <a:pPr>
              <a:buClr>
                <a:srgbClr val="1287C3"/>
              </a:buClr>
            </a:pPr>
            <a:r>
              <a:rPr lang="en-US" dirty="0">
                <a:ea typeface="+mn-lt"/>
                <a:cs typeface="+mn-lt"/>
              </a:rPr>
              <a:t>Back-End : Flask or Stram</a:t>
            </a:r>
            <a:endParaRPr lang="en-US" dirty="0"/>
          </a:p>
        </p:txBody>
      </p:sp>
    </p:spTree>
    <p:extLst>
      <p:ext uri="{BB962C8B-B14F-4D97-AF65-F5344CB8AC3E}">
        <p14:creationId xmlns:p14="http://schemas.microsoft.com/office/powerpoint/2010/main" val="470607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79ACB-23B1-07DC-78AE-2A2E455B1970}"/>
              </a:ext>
            </a:extLst>
          </p:cNvPr>
          <p:cNvSpPr>
            <a:spLocks noGrp="1"/>
          </p:cNvSpPr>
          <p:nvPr>
            <p:ph type="title"/>
          </p:nvPr>
        </p:nvSpPr>
        <p:spPr>
          <a:xfrm>
            <a:off x="1484311" y="685800"/>
            <a:ext cx="10018713" cy="4038599"/>
          </a:xfrm>
        </p:spPr>
        <p:txBody>
          <a:bodyPr>
            <a:normAutofit/>
          </a:bodyPr>
          <a:lstStyle/>
          <a:p>
            <a:r>
              <a:rPr lang="en-US" sz="4200" b="1" dirty="0">
                <a:solidFill>
                  <a:srgbClr val="178DBB"/>
                </a:solidFill>
                <a:latin typeface="Times New Roman"/>
                <a:cs typeface="Times New Roman"/>
              </a:rPr>
              <a:t>ANY QUERIES?</a:t>
            </a:r>
            <a:endParaRPr lang="en-US" sz="4200" dirty="0"/>
          </a:p>
        </p:txBody>
      </p:sp>
    </p:spTree>
    <p:extLst>
      <p:ext uri="{BB962C8B-B14F-4D97-AF65-F5344CB8AC3E}">
        <p14:creationId xmlns:p14="http://schemas.microsoft.com/office/powerpoint/2010/main" val="2368961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CCC27-2A27-7492-D7A3-0C76A5AC9F94}"/>
              </a:ext>
            </a:extLst>
          </p:cNvPr>
          <p:cNvSpPr>
            <a:spLocks noGrp="1"/>
          </p:cNvSpPr>
          <p:nvPr>
            <p:ph type="title"/>
          </p:nvPr>
        </p:nvSpPr>
        <p:spPr>
          <a:xfrm>
            <a:off x="1484311" y="685800"/>
            <a:ext cx="10018713" cy="4812694"/>
          </a:xfrm>
        </p:spPr>
        <p:txBody>
          <a:bodyPr/>
          <a:lstStyle/>
          <a:p>
            <a:r>
              <a:rPr lang="en-US" sz="4400" b="1" dirty="0">
                <a:solidFill>
                  <a:srgbClr val="178DBB"/>
                </a:solidFill>
                <a:latin typeface="Times New Roman"/>
                <a:cs typeface="Times New Roman"/>
              </a:rPr>
              <a:t>THANK YOU</a:t>
            </a:r>
          </a:p>
        </p:txBody>
      </p:sp>
    </p:spTree>
    <p:extLst>
      <p:ext uri="{BB962C8B-B14F-4D97-AF65-F5344CB8AC3E}">
        <p14:creationId xmlns:p14="http://schemas.microsoft.com/office/powerpoint/2010/main" val="18700091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office theme</Template>
  <TotalTime>121</TotalTime>
  <Words>529</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DengXian</vt:lpstr>
      <vt:lpstr>Arial</vt:lpstr>
      <vt:lpstr>Century Gothic</vt:lpstr>
      <vt:lpstr>Corbel</vt:lpstr>
      <vt:lpstr>Times New Roman</vt:lpstr>
      <vt:lpstr>Parallax</vt:lpstr>
      <vt:lpstr>CHALAPATHI INSTITUTE OF ENGINEERING                          AND TECHNOLOGY(AUTONOMOUS) DEPARTMENT OF ELECTRONICS AND COMMUNICATION ENGINEERING                            </vt:lpstr>
      <vt:lpstr>ABSTRACT</vt:lpstr>
      <vt:lpstr>INTRODUCTION</vt:lpstr>
      <vt:lpstr>OBJECTIVE</vt:lpstr>
      <vt:lpstr>EXISTING SYSTEM</vt:lpstr>
      <vt:lpstr>PROPOSED SYSTEM</vt:lpstr>
      <vt:lpstr>SYSTEM ARCHITECTURE</vt:lpstr>
      <vt:lpstr>HARDWARE REQUIREMENTS </vt:lpstr>
      <vt:lpstr>SORTWARE REQUIREMENTS</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Galla Teja</cp:lastModifiedBy>
  <cp:revision>365</cp:revision>
  <dcterms:created xsi:type="dcterms:W3CDTF">2025-03-08T15:25:28Z</dcterms:created>
  <dcterms:modified xsi:type="dcterms:W3CDTF">2026-03-25T17:59:17Z</dcterms:modified>
</cp:coreProperties>
</file>